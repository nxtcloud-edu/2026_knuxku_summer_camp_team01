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JustGO는 '도시와 날짜만 정하면 나머지는 AI가 계획하는' 여행 플래너입니다. 오늘 발표는 무엇을 만들었는지보다 왜 이걸 만들어야 했는지에서 시작하겠습니다.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ChatGPT나 Claude에게 '도쿄 3박 4일 짜줘'라고 하면 답은 나옵니다. 그런데 실제로 그 답을 들고 실제로 여행을 가는 사람은 거의 없죠. 이유를 세 가지로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'사용자가 자기 취향을 언어화하지 못한다'는 점입니다. 왼쪽이 현실, 오른쪽이 좋은 답을 얻기 위해 필요한 입력입니다. 이 격차를 사용자에게 떠넘기는 대신 우리가 질문으로 메우기로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저희가 기존 AI 서비스로 실제 여행 계획을 짜보면서 반복적으로 관찰한 실패 유형 6가지입니다. 공통점은 '모델의 지식 부족'이 아니라 '대조 절차의 부재'라는 점입니다. 이 관찰이 검증 에이전트를 만든 직접적인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결핍은 결과물의 형태입니다. 채팅 답변은 읽을 수는 있지만 쓸 수는 없습니다. 수정·내보내기·공유가 안 되면 아무리 좋은 일정이어도 실제 여행에 쓰이지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앞의 세 결핍에 '고치기 어렵다'와 '꺼낼 수 없다'를 나눠 총 네 가지 축으로 정리했습니다. 오른쪽 열이 오늘 보여드릴 네 가지 차별점이고 이후 슬라이드가 순서대로 각 항목에 대응합니다.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흐름입니다. 7단계지만 사용자가 반드시 확정해야 하는 건 도시와 날짜 두 개뿐입니다. 항공권과 숙소 단계는 '함께 찾아드릴까요?'에 아니오를 선택하면 건너뜁니다. 마지막 검증 단계가 이 제품의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차별점입니다. 자유 프롬프트를 요구하지 않고 선택형 문항으로 취향을 발굴합니다. 필수는 4문항이며 자유 서술을 원하는 사용자를 위한 메모 칸도 남겨뒀습니다.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항공권, 숙소, 관광지 세 단계입니다. 공통 패턴은 'AI가 후보를 좁혀 제시하고 사용자는 고른다'입니다. 선택지가 너무 많으면 고를 수 없고 하나만 주면 신뢰할 수 없기 때문에 3개 내외로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검색과 생성, 검증 모든 단계에서 에이전트의 추론을 실시간으로 노출합니다. AI의 작업을 숨기지 않는다는 원칙이고 이게 뒤에 나올 검증 결과를 사용자가 받아들이는 토대가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차별점이자 이 제품의 핵심입니다. Why 02에서 본 실패 유형을 규칙으로 고정했습니다. 심각도는 세 단계이고 데이터가 없으면 '건너뛰었다'고 정직하게 말합니다. 애매한 건 주의로 내린다는 원칙이 신뢰 유지에 중요했습니다.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10개 규칙 전문입니다. V1부터 V5까지는 실행 가능성, V6부터 V10까지는 경험과 정보성 이슈입니다. 규칙은 서로 독립적이라 병렬 실행이 가능하지만 사용자가 체감하는 중요도 순으로 순차 노출합니다.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검증 화면입니다. 왼쪽은 검사 중 추론 과정, 오른쪽은 결과입니다. 중요한 건 '틀렸다'로 끝내지 않는다는 점입니다. 근거를 제시하고 구체적인 수정안까지 만든 뒤, 적용 여부는 사용자가 결정합니다. 적용하면 영향받는 규칙만 다시 검사합니다.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차별점입니다. 채팅에서는 '3일차를 바꿔줘'라고 말해야 하고 전체가 다시 생성됩니다. 여기서는 바꾸고 싶은 카드를 직접 끌어다 놓으면 되고 이동 시간이 즉시 재계산됩니다.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 차별점입니다. 공유는 읽기 전용 스냅샷 링크로, 내보내기는 인쇄 전용 뷰와 PDF로 해결했습니다. 시뮬레이션 화면은 현지에서 실제로 따라갈 수 있도록 장소를 한 장씩 넘기는 형태입니다.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 이야기입니다. UI와 에이전트 사이에 AgentEvent와 AgentTransport라는 계약을 두었습니다. 덕분에 지금은 목 스트리밍으로 전체 흐름을 완주할 수 있고 실제 에이전트가 준비되면 전송 구현체만 갈아끼우면 됩니다. 검증 규칙은 순수 함수라 UI 없이도 테스트됩니다.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정리하겠습니다. 저희가 푼 문제는 '사용자가 원하는 걸 모른다'와 'AI의 결과를 믿을 수 없다'입니다. 여정과 검증, 편집, 산출물 네 축으로 답했습니다.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5E6AD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J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06424" y="5669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JustGO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84708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A8AFE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TRAVEL PLANNER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무엇을 원하는지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모르는 채로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시작해도 됩니다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462686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8AF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취향을 함께 찾아가고 완성된 일정을 검증까지 하는 AI 여행 플래너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58704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강원대 × 고려대 Summer Agentic AI 심화 몰입 캠프 · 1팀</a:t>
            </a:r>
            <a:endParaRPr lang="en-US" sz="1150" dirty="0"/>
          </a:p>
        </p:txBody>
      </p:sp>
      <p:pic>
        <p:nvPicPr>
          <p:cNvPr id="9" name="Image 0" descr="assets/1.onboar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37360"/>
            <a:ext cx="5715000" cy="3565635"/>
          </a:xfrm>
          <a:prstGeom prst="rect">
            <a:avLst/>
          </a:prstGeom>
          <a:effectLst>
            <a:outerShdw sx="100000" sy="100000" kx="0" ky="0" algn="bl" rotWithShape="0" blurRad="431800" dist="101600" dir="5400000">
              <a:srgbClr val="0A0C18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6868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A8AFE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WHY WE BUILT 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1225296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 AI가 여행 계획을</a:t>
            </a:r>
            <a:endParaRPr lang="en-US" sz="3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짜주는 시대인데,</a:t>
            </a:r>
            <a:endParaRPr lang="en-US" sz="3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아무도 그걸 쓰지 않을까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3566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먼저 찾은 건 기능이 아니라 세 가지 결핍이었습니다.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371600"/>
            <a:ext cx="5102352" cy="1298448"/>
          </a:xfrm>
          <a:prstGeom prst="roundRect">
            <a:avLst>
              <a:gd name="adj" fmla="val 7746"/>
            </a:avLst>
          </a:prstGeom>
          <a:solidFill>
            <a:srgbClr val="1D1F30"/>
          </a:solidFill>
          <a:ln w="12700">
            <a:solidFill>
              <a:srgbClr val="2C2F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93408" y="1645920"/>
            <a:ext cx="347472" cy="347472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7" name="Text 5"/>
          <p:cNvSpPr/>
          <p:nvPr/>
        </p:nvSpPr>
        <p:spPr>
          <a:xfrm>
            <a:off x="6693408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87184" y="16093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사용자는 자기가 뭘 원하는지 모른다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87184" y="1956816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프롬프트를 쓸 수 없고 AI는 평균적인 답만 낸다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2862072"/>
            <a:ext cx="5102352" cy="1298448"/>
          </a:xfrm>
          <a:prstGeom prst="roundRect">
            <a:avLst>
              <a:gd name="adj" fmla="val 7746"/>
            </a:avLst>
          </a:prstGeom>
          <a:solidFill>
            <a:srgbClr val="1D1F30"/>
          </a:solidFill>
          <a:ln w="12700">
            <a:solidFill>
              <a:srgbClr val="2C2F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93408" y="3136392"/>
            <a:ext cx="347472" cy="347472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2" name="Text 10"/>
          <p:cNvSpPr/>
          <p:nvPr/>
        </p:nvSpPr>
        <p:spPr>
          <a:xfrm>
            <a:off x="6693408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87184" y="30998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나온 답을 믿을 수가 없다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87184" y="3447288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휴관일·이동시간·예약을 확인해줄 사람이 아무도 없다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4352544"/>
            <a:ext cx="5102352" cy="1298448"/>
          </a:xfrm>
          <a:prstGeom prst="roundRect">
            <a:avLst>
              <a:gd name="adj" fmla="val 7746"/>
            </a:avLst>
          </a:prstGeom>
          <a:solidFill>
            <a:srgbClr val="1D1F30"/>
          </a:solidFill>
          <a:ln w="12700">
            <a:solidFill>
              <a:srgbClr val="2C2F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93408" y="4626864"/>
            <a:ext cx="347472" cy="347472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7" name="Text 15"/>
          <p:cNvSpPr/>
          <p:nvPr/>
        </p:nvSpPr>
        <p:spPr>
          <a:xfrm>
            <a:off x="6693408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87184" y="459028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결과물이 대화창에 갇혀 있다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87184" y="4937760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고쳐 쓰기도, 꺼내 쓰기도 어렵다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WHY 01 · 빈 프롬프트 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1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좋은 답을 받으려면 좋은 질문을 해야 한다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그런데 여행에서 그 질문을 만들 수 있는 사람은 거의 없습니다. 원하는 걸 아는 사람만 AI를 쓸 수 있다면 그건 도구가 아닙니다.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175504" cy="2788920"/>
          </a:xfrm>
          <a:prstGeom prst="roundRect">
            <a:avLst>
              <a:gd name="adj" fmla="val 3279"/>
            </a:avLst>
          </a:prstGeom>
          <a:solidFill>
            <a:srgbClr val="F6F7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4203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BD0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42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86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사용자가 실제로 쓰는 말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2999232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“도쿄 3박 4일 일정 짜줘”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611880"/>
            <a:ext cx="4626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돌아오는 답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누구에게나 똑같은 관광지 목록. 내 페이스, 동행, 예산, 이동 제약이 하나도 반영되지 않은 '평균값' 일정.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7648" y="2286000"/>
            <a:ext cx="5175504" cy="2788920"/>
          </a:xfrm>
          <a:prstGeom prst="roundRect">
            <a:avLst>
              <a:gd name="adj" fmla="val 3279"/>
            </a:avLst>
          </a:prstGeom>
          <a:solidFill>
            <a:srgbClr val="E8EAFB"/>
          </a:solidFill>
          <a:ln w="12700">
            <a:solidFill>
              <a:srgbClr val="CBD0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1968" y="2542032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BD0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2542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좋은 답이 나오려면 필요한 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01968" y="2962656"/>
            <a:ext cx="4626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300" dirty="0">
                <a:solidFill>
                  <a:srgbClr val="1A1B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“부모님과 셋이, 오래 걷기 어려우셔서 하루 3곳 이하로, 계단 많은 곳은 빼고, 조용한 식당 위주로, 1인 120만원 안에서, 신주쿠 숙소 기준 이동 30분 이내, 월요일 휴관 피해서…”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01968" y="4389120"/>
            <a:ext cx="4626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</a:t>
            </a:r>
            <a:endParaRPr lang="en-US" sz="12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이걸 처음부터 적어낼 수 있는 사용자는 거의 없습니다. 대부분은 물어봐야 비로소 “아, 그건 중요해요”를 떠올립니다.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413248"/>
            <a:ext cx="10820095" cy="749808"/>
          </a:xfrm>
          <a:prstGeom prst="roundRect">
            <a:avLst>
              <a:gd name="adj" fmla="val 12195"/>
            </a:avLst>
          </a:prstGeom>
          <a:solidFill>
            <a:srgbClr val="12131F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5413248"/>
            <a:ext cx="1019830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FE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우리의 선택  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사용자를 '프롬프트 잘 쓰는 사람'으로 훈련시키지 않는다. 대신 물어봐서 채운다.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WHY 02 · 신뢰할 수 없는 결과물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1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그럴듯한 답, 확인할 수 없는 답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여행 계획의 오류는 화면에서 안 드러납니다. 현지에서, 그 날, 닫힌 문 앞에서 드러납니다.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212848"/>
            <a:ext cx="5175504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14600"/>
            <a:ext cx="329184" cy="329184"/>
          </a:xfrm>
          <a:prstGeom prst="ellipse">
            <a:avLst/>
          </a:prstGeom>
          <a:solidFill>
            <a:srgbClr val="FBEAE7"/>
          </a:solidFill>
          <a:ln w="12700">
            <a:solidFill>
              <a:srgbClr val="BC3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C3B2B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359152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휴관일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642616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월요일 휴관인 박물관을 월요일 오전에 배치한다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7648" y="2212848"/>
            <a:ext cx="5175504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1968" y="2514600"/>
            <a:ext cx="329184" cy="329184"/>
          </a:xfrm>
          <a:prstGeom prst="ellipse">
            <a:avLst/>
          </a:prstGeom>
          <a:solidFill>
            <a:srgbClr val="FBEAE7"/>
          </a:solidFill>
          <a:ln w="12700">
            <a:solidFill>
              <a:srgbClr val="BC3B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C3B2B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59168" y="2359152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이동 시간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59168" y="2642616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직선거리로 25분이라 답한다. 환승 포함 실제 70분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319272"/>
            <a:ext cx="5175504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621024"/>
            <a:ext cx="329184" cy="329184"/>
          </a:xfrm>
          <a:prstGeom prst="ellipse">
            <a:avLst/>
          </a:prstGeom>
          <a:solidFill>
            <a:srgbClr val="FBEAE7"/>
          </a:solidFill>
          <a:ln w="12700">
            <a:solidFill>
              <a:srgbClr val="BC3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621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C3B2B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465576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항공 연결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749040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11:20 도착 비행기인데 첫 일정을 13:00에 넣는다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27648" y="3319272"/>
            <a:ext cx="5175504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01968" y="3621024"/>
            <a:ext cx="329184" cy="329184"/>
          </a:xfrm>
          <a:prstGeom prst="ellipse">
            <a:avLst/>
          </a:prstGeom>
          <a:solidFill>
            <a:srgbClr val="FBEAE7"/>
          </a:solidFill>
          <a:ln w="12700">
            <a:solidFill>
              <a:srgbClr val="BC3B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3621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C3B2B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!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59168" y="3465576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체크인 시각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59168" y="3749040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 체크인 숙소에 14시 도착하는 동선을 짠다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4425696"/>
            <a:ext cx="5175504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4727448"/>
            <a:ext cx="329184" cy="329184"/>
          </a:xfrm>
          <a:prstGeom prst="ellipse">
            <a:avLst/>
          </a:prstGeom>
          <a:solidFill>
            <a:srgbClr val="FBEAE7"/>
          </a:solidFill>
          <a:ln w="12700">
            <a:solidFill>
              <a:srgbClr val="BC3B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727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C3B2B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!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572000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4855464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항공·숙소·입장료·식비를 합산해보지 않는다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27648" y="4425696"/>
            <a:ext cx="5175504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4727448"/>
            <a:ext cx="329184" cy="329184"/>
          </a:xfrm>
          <a:prstGeom prst="ellipse">
            <a:avLst/>
          </a:prstGeom>
          <a:solidFill>
            <a:srgbClr val="FBEAE7"/>
          </a:solidFill>
          <a:ln w="12700">
            <a:solidFill>
              <a:srgbClr val="BC3B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01968" y="4727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C3B2B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!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59168" y="4572000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사전 예약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59168" y="4855464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 지정 예약이 필수인 곳을 그냥 집어넣는다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85800" y="5596128"/>
            <a:ext cx="10820095" cy="713232"/>
          </a:xfrm>
          <a:prstGeom prst="roundRect">
            <a:avLst>
              <a:gd name="adj" fmla="val 12821"/>
            </a:avLst>
          </a:prstGeom>
          <a:solidFill>
            <a:srgbClr val="12131F"/>
          </a:solidFill>
          <a:ln/>
        </p:spPr>
      </p:sp>
      <p:sp>
        <p:nvSpPr>
          <p:cNvPr id="36" name="Text 34"/>
          <p:cNvSpPr/>
          <p:nvPr/>
        </p:nvSpPr>
        <p:spPr>
          <a:xfrm>
            <a:off x="996696" y="5596128"/>
            <a:ext cx="1019830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FE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관찰  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이런 오류는 모델이 더 똑똑해져도 사라지지 않습니다. 확인하는 절차가 없기 때문입니다.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WHY 03 · 꺼낼 수 없는 결과물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1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결과물이 대화창에 갇혀 있다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여행 계획은 한 번 생성하고 끝나는 글이 아니라 출발 전까지 계속 고쳐 쓰는 문서입니다.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212848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468880"/>
            <a:ext cx="365760" cy="365760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53896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2980944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“3일차 오후를 바꿔줘”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78408" y="3529584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전체가 다시 생성된다. 어디가 왜 바뀌었는지 알 수 없고 마음에 들었던 부분까지 사라진다.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9976" y="2212848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72584" y="2468880"/>
            <a:ext cx="365760" cy="365760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3" name="Text 11"/>
          <p:cNvSpPr/>
          <p:nvPr/>
        </p:nvSpPr>
        <p:spPr>
          <a:xfrm>
            <a:off x="4672584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48072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내보내기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72584" y="2980944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저장할 형식이 없다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72584" y="3529584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일정표로 뽑을 수 없어 결국 사람이 복사해서 메모 앱으로 옮겨 적는다.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74152" y="2212848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2468880"/>
            <a:ext cx="365760" cy="365760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42248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66760" y="2980944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보낼 방법이 스크린샷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3529584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동행에게 전달할 수단이 없다. 지도도 이동 시간도 같이 보낼 수 없다.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5029200"/>
            <a:ext cx="10820095" cy="1042416"/>
          </a:xfrm>
          <a:prstGeom prst="roundRect">
            <a:avLst>
              <a:gd name="adj" fmla="val 8772"/>
            </a:avLst>
          </a:prstGeom>
          <a:solidFill>
            <a:srgbClr val="EDEFF9"/>
          </a:solidFill>
          <a:ln w="12700">
            <a:solidFill>
              <a:srgbClr val="CBD0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4984" y="5029200"/>
            <a:ext cx="10161727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여행 계획은 '한 번 생성되는 답변'이 아니라 '계속 고쳐 쓰고, 들고 나가고, 같이 보는 문서'다.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그렇다면 결과물은 고쳐 쓰고 꺼내 쓸 수 있는 형태여야 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OUR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1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네 가지를 다르게 만들었습니다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74536" y="1737360"/>
            <a:ext cx="4931359" cy="4224528"/>
          </a:xfrm>
          <a:prstGeom prst="roundRect">
            <a:avLst>
              <a:gd name="adj" fmla="val 2597"/>
            </a:avLst>
          </a:prstGeom>
          <a:solidFill>
            <a:srgbClr val="E8EAFB"/>
          </a:solidFill>
          <a:ln/>
        </p:spPr>
      </p:sp>
      <p:sp>
        <p:nvSpPr>
          <p:cNvPr id="5" name="Text 3"/>
          <p:cNvSpPr/>
          <p:nvPr/>
        </p:nvSpPr>
        <p:spPr>
          <a:xfrm>
            <a:off x="832104" y="18288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80" kern="0" dirty="0">
                <a:solidFill>
                  <a:srgbClr val="8B8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118104" y="182880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80" kern="0" dirty="0">
                <a:solidFill>
                  <a:srgbClr val="8B8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AI 서비스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12280" y="182880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80" kern="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JustGO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231136"/>
            <a:ext cx="55778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23113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원하는 걸 모른다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18104" y="2231136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프롬프트로 전부 설명해야 한다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84264" y="2231136"/>
            <a:ext cx="4711903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BD0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67144" y="2519172"/>
            <a:ext cx="292608" cy="29260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3" name="Text 11"/>
          <p:cNvSpPr/>
          <p:nvPr/>
        </p:nvSpPr>
        <p:spPr>
          <a:xfrm>
            <a:off x="6867144" y="25191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51192" y="2231136"/>
            <a:ext cx="3962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80" dirty="0">
                <a:solidFill>
                  <a:srgbClr val="1A1B2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7단계 질문·선택 여정으로 취향을 함께 발굴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685800" y="3154680"/>
            <a:ext cx="55778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3154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결과를 믿을 수 없다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18104" y="31546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검증도, 근거도 없다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84264" y="3154680"/>
            <a:ext cx="4711903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BD0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67144" y="3442716"/>
            <a:ext cx="292608" cy="29260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0" name="Text 18"/>
          <p:cNvSpPr/>
          <p:nvPr/>
        </p:nvSpPr>
        <p:spPr>
          <a:xfrm>
            <a:off x="6867144" y="34427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51192" y="3154680"/>
            <a:ext cx="3962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80" dirty="0">
                <a:solidFill>
                  <a:srgbClr val="1A1B2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10개 규칙으로 점검하고 근거까지 제시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85800" y="4078224"/>
            <a:ext cx="55778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" y="4078224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고치기 어렵다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118104" y="4078224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자연어로 재요청 → 전체 재생성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84264" y="4078224"/>
            <a:ext cx="4711903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BD0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67144" y="4366260"/>
            <a:ext cx="292608" cy="29260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7" name="Text 25"/>
          <p:cNvSpPr/>
          <p:nvPr/>
        </p:nvSpPr>
        <p:spPr>
          <a:xfrm>
            <a:off x="6867144" y="4366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51192" y="4078224"/>
            <a:ext cx="3962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80" dirty="0">
                <a:solidFill>
                  <a:srgbClr val="1A1B2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드래그&amp;드롭 편집 + 지도 실시간 동기화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685800" y="5001768"/>
            <a:ext cx="55778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" y="500176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꺼낼 수 없다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118104" y="5001768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대화창 안에 머문다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684264" y="5001768"/>
            <a:ext cx="4711903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BD0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67144" y="5289804"/>
            <a:ext cx="292608" cy="29260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34" name="Text 32"/>
          <p:cNvSpPr/>
          <p:nvPr/>
        </p:nvSpPr>
        <p:spPr>
          <a:xfrm>
            <a:off x="6867144" y="52898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51192" y="5001768"/>
            <a:ext cx="3962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80" dirty="0">
                <a:solidFill>
                  <a:srgbClr val="1A1B2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공유 링크 · 인쇄/PDF · 여정 시뮬레이션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1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사용자가 확정하는 입력은 둘, 도시와 날짜입니다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나머지는 7단계 여정에서 선택형 질문으로 흘려보냅니다. 대부분의 문항은 건너뛸 수 있고 언제 새로고침해도 진행 상태가 복원됩니다.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1417320" cy="1024128"/>
          </a:xfrm>
          <a:prstGeom prst="roundRect">
            <a:avLst>
              <a:gd name="adj" fmla="val 8929"/>
            </a:avLst>
          </a:prstGeom>
          <a:solidFill>
            <a:srgbClr val="F6F7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9012" y="2487168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7" name="Text 5"/>
          <p:cNvSpPr/>
          <p:nvPr/>
        </p:nvSpPr>
        <p:spPr>
          <a:xfrm>
            <a:off x="123901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0664" y="2871216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도시 · 날짜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49424" y="2286000"/>
            <a:ext cx="1417320" cy="1024128"/>
          </a:xfrm>
          <a:prstGeom prst="roundRect">
            <a:avLst>
              <a:gd name="adj" fmla="val 8929"/>
            </a:avLst>
          </a:prstGeom>
          <a:solidFill>
            <a:srgbClr val="F6F7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02636" y="2487168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1" name="Text 9"/>
          <p:cNvSpPr/>
          <p:nvPr/>
        </p:nvSpPr>
        <p:spPr>
          <a:xfrm>
            <a:off x="2802636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04288" y="2871216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여행 스타일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13048" y="2286000"/>
            <a:ext cx="1417320" cy="1024128"/>
          </a:xfrm>
          <a:prstGeom prst="roundRect">
            <a:avLst>
              <a:gd name="adj" fmla="val 8929"/>
            </a:avLst>
          </a:prstGeom>
          <a:solidFill>
            <a:srgbClr val="F6F7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6260" y="2487168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5" name="Text 13"/>
          <p:cNvSpPr/>
          <p:nvPr/>
        </p:nvSpPr>
        <p:spPr>
          <a:xfrm>
            <a:off x="436626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67912" y="2871216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항공권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76672" y="2286000"/>
            <a:ext cx="1417320" cy="1024128"/>
          </a:xfrm>
          <a:prstGeom prst="roundRect">
            <a:avLst>
              <a:gd name="adj" fmla="val 8929"/>
            </a:avLst>
          </a:prstGeom>
          <a:solidFill>
            <a:srgbClr val="F6F7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29884" y="2487168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9" name="Text 17"/>
          <p:cNvSpPr/>
          <p:nvPr/>
        </p:nvSpPr>
        <p:spPr>
          <a:xfrm>
            <a:off x="5929884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31536" y="2871216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숙소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40296" y="2286000"/>
            <a:ext cx="1417320" cy="1024128"/>
          </a:xfrm>
          <a:prstGeom prst="roundRect">
            <a:avLst>
              <a:gd name="adj" fmla="val 8929"/>
            </a:avLst>
          </a:prstGeom>
          <a:solidFill>
            <a:srgbClr val="F6F7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3508" y="2487168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3" name="Text 21"/>
          <p:cNvSpPr/>
          <p:nvPr/>
        </p:nvSpPr>
        <p:spPr>
          <a:xfrm>
            <a:off x="7493508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95160" y="2871216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가고 싶은 곳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503920" y="2286000"/>
            <a:ext cx="1417320" cy="1024128"/>
          </a:xfrm>
          <a:prstGeom prst="roundRect">
            <a:avLst>
              <a:gd name="adj" fmla="val 8929"/>
            </a:avLst>
          </a:prstGeom>
          <a:solidFill>
            <a:srgbClr val="F6F7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57132" y="2487168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7" name="Text 25"/>
          <p:cNvSpPr/>
          <p:nvPr/>
        </p:nvSpPr>
        <p:spPr>
          <a:xfrm>
            <a:off x="905713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558784" y="2871216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일정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067544" y="2286000"/>
            <a:ext cx="1417320" cy="1024128"/>
          </a:xfrm>
          <a:prstGeom prst="roundRect">
            <a:avLst>
              <a:gd name="adj" fmla="val 8929"/>
            </a:avLst>
          </a:prstGeom>
          <a:solidFill>
            <a:srgbClr val="5E6AD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20756" y="248716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620756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D2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7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22408" y="2871216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58952" y="35295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1  </a:t>
            </a:r>
            <a:pPr algn="ctr" indent="0" marL="0">
              <a:buNone/>
            </a:pPr>
            <a:r>
              <a:rPr lang="en-US" sz="1250" dirty="0">
                <a:solidFill>
                  <a:srgbClr val="55586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도시와 날짜만 정하면 시작됩니다</a:t>
            </a:r>
            <a:endParaRPr lang="en-US" sz="1050" dirty="0"/>
          </a:p>
        </p:txBody>
      </p:sp>
      <p:pic>
        <p:nvPicPr>
          <p:cNvPr id="34" name="Image 0" descr="assets/2.city_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368" y="3803904"/>
            <a:ext cx="4074369" cy="2542032"/>
          </a:xfrm>
          <a:prstGeom prst="rect">
            <a:avLst/>
          </a:prstGeom>
          <a:effectLst>
            <a:outerShdw sx="100000" sy="100000" kx="0" ky="0" algn="bl" rotWithShape="0" blurRad="254000" dist="63500" dir="5400000">
              <a:srgbClr val="0A0C18">
                <a:alpha val="16000"/>
              </a:srgbClr>
            </a:outerShdw>
          </a:effectLst>
        </p:spPr>
      </p:pic>
      <p:sp>
        <p:nvSpPr>
          <p:cNvPr id="35" name="Text 32"/>
          <p:cNvSpPr/>
          <p:nvPr/>
        </p:nvSpPr>
        <p:spPr>
          <a:xfrm>
            <a:off x="6336792" y="35295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2  </a:t>
            </a:r>
            <a:pPr algn="ctr" indent="0" marL="0">
              <a:buNone/>
            </a:pPr>
            <a:r>
              <a:rPr lang="en-US" sz="1250" dirty="0">
                <a:solidFill>
                  <a:srgbClr val="55586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취향은 선택형 질문으로 채웁니다</a:t>
            </a:r>
            <a:endParaRPr lang="en-US" sz="1050" dirty="0"/>
          </a:p>
        </p:txBody>
      </p:sp>
      <p:pic>
        <p:nvPicPr>
          <p:cNvPr id="36" name="Image 1" descr="assets/3.1.persona_sel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208" y="3803904"/>
            <a:ext cx="4074369" cy="2542032"/>
          </a:xfrm>
          <a:prstGeom prst="rect">
            <a:avLst/>
          </a:prstGeom>
          <a:effectLst>
            <a:outerShdw sx="100000" sy="100000" kx="0" ky="0" algn="bl" rotWithShape="0" blurRad="254000" dist="63500" dir="5400000">
              <a:srgbClr val="0A0C18">
                <a:alpha val="16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차별점 01 · 원하는 걸 찾아가는 여정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1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묻지 않으면 모릅니다. 그래서 묻습니다</a:t>
            </a:r>
            <a:endParaRPr lang="en-US" sz="3100" dirty="0"/>
          </a:p>
        </p:txBody>
      </p:sp>
      <p:pic>
        <p:nvPicPr>
          <p:cNvPr id="4" name="Image 0" descr="assets/3.1.persona_se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755648"/>
            <a:ext cx="5833872" cy="3639800"/>
          </a:xfrm>
          <a:prstGeom prst="rect">
            <a:avLst/>
          </a:prstGeom>
          <a:effectLst>
            <a:outerShdw sx="100000" sy="100000" kx="0" ky="0" algn="bl" rotWithShape="0" blurRad="254000" dist="63500" dir="5400000">
              <a:srgbClr val="0A0C18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85800" y="1947672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61288" y="1920240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빈 입력창이 아니라 선택형 질문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61288" y="2194560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4문항이면 다음 단계로 넘어갑니다. 상단에 남은 문항 수를 보여주고 나머지는 언제든 나중에 채울 수 있습니다.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3319272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319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61288" y="3291840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고르는 순간 취향이 정의된다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61288" y="3566160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동행, 인원, 페이스(여유롭게 · 적당히 · 빽빽하게), 관심사 10종을 카드로 고릅니다. 사용자는 '무엇을 원하는지'를 쓰는 대신 알아봅니다.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85800" y="4690872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61288" y="4663440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말로 하고 싶은 건 말로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161288" y="4937760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“부모님과 함께 가요, 오래 걷기 어려워하시고 조용한 식당을 좋아하세요.” 자유 메모는 일정 생성에 그대로 반영됩니다.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85800" y="5623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취향을 미리 아는 사용자만 쓸 수 있는 도구가 아니라,</a:t>
            </a:r>
            <a:endParaRPr lang="en-US" sz="13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쓰는 동안 취향이 정해지는 도구를 만들었습니다.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차별점 01 · 원하는 걸 찾아가는 여정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1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AI가 후보를 내고 사용자는 고르기만 합니다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'전부 알아서 해주기'와 '전부 직접 하기' 사이. 매 단계에서 선택지는 좁혀지고 고를 때마다 취향은 더 선명해집니다.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06424" y="2194560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항공권</a:t>
            </a:r>
            <a:endParaRPr lang="en-US" sz="1500" dirty="0"/>
          </a:p>
        </p:txBody>
      </p:sp>
      <p:pic>
        <p:nvPicPr>
          <p:cNvPr id="8" name="Image 0" descr="assets/4.3.flight_se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633472"/>
            <a:ext cx="3429000" cy="2139381"/>
          </a:xfrm>
          <a:prstGeom prst="rect">
            <a:avLst/>
          </a:prstGeom>
          <a:effectLst>
            <a:outerShdw sx="100000" sy="100000" kx="0" ky="0" algn="bl" rotWithShape="0" blurRad="254000" dist="63500" dir="5400000">
              <a:srgbClr val="0A0C18">
                <a:alpha val="16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685800" y="4992309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최저가 · 최단시간 축으로 3개만 제시하고 추천 이유를 한 줄로 붙입니다. “오전 도착이라 첫날 일정을 넉넉하게 쓸 수 있어요.”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2194560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1" name="Text 8"/>
          <p:cNvSpPr/>
          <p:nvPr/>
        </p:nvSpPr>
        <p:spPr>
          <a:xfrm>
            <a:off x="4379976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00600" y="2194560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숙소</a:t>
            </a:r>
            <a:endParaRPr lang="en-US" sz="1500" dirty="0"/>
          </a:p>
        </p:txBody>
      </p:sp>
      <p:pic>
        <p:nvPicPr>
          <p:cNvPr id="13" name="Image 1" descr="assets/5.3.lodge_sel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757" y="2633472"/>
            <a:ext cx="3291438" cy="2139381"/>
          </a:xfrm>
          <a:prstGeom prst="rect">
            <a:avLst/>
          </a:prstGeom>
          <a:effectLst>
            <a:outerShdw sx="100000" sy="100000" kx="0" ky="0" algn="bl" rotWithShape="0" blurRad="254000" dist="63500" dir="5400000">
              <a:srgbClr val="0A0C18">
                <a:alpha val="16000"/>
              </a:srgbClr>
            </a:outerShdw>
          </a:effectLst>
        </p:spPr>
      </p:pic>
      <p:sp>
        <p:nvSpPr>
          <p:cNvPr id="14" name="Text 10"/>
          <p:cNvSpPr/>
          <p:nvPr/>
        </p:nvSpPr>
        <p:spPr>
          <a:xfrm>
            <a:off x="4379976" y="4992309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· 가격 · 평점을 페르소나에 맞춰 반영합니다. 지도에서 역까지 도보 몇 분인지 바로 보여줍니다.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74152" y="2194560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6" name="Text 12"/>
          <p:cNvSpPr/>
          <p:nvPr/>
        </p:nvSpPr>
        <p:spPr>
          <a:xfrm>
            <a:off x="8074152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494776" y="2194560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가고 싶은 곳</a:t>
            </a:r>
            <a:endParaRPr lang="en-US" sz="1500" dirty="0"/>
          </a:p>
        </p:txBody>
      </p:sp>
      <p:pic>
        <p:nvPicPr>
          <p:cNvPr id="18" name="Image 2" descr="assets/6.1.place_sele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933" y="2633472"/>
            <a:ext cx="3291438" cy="2139381"/>
          </a:xfrm>
          <a:prstGeom prst="rect">
            <a:avLst/>
          </a:prstGeom>
          <a:effectLst>
            <a:outerShdw sx="100000" sy="100000" kx="0" ky="0" algn="bl" rotWithShape="0" blurRad="254000" dist="63500" dir="5400000">
              <a:srgbClr val="0A0C18">
                <a:alpha val="16000"/>
              </a:srgbClr>
            </a:outerShdw>
          </a:effectLst>
        </p:spPr>
      </p:pic>
      <p:sp>
        <p:nvSpPr>
          <p:cNvPr id="19" name="Text 14"/>
          <p:cNvSpPr/>
          <p:nvPr/>
        </p:nvSpPr>
        <p:spPr>
          <a:xfrm>
            <a:off x="8074152" y="4992309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관심사 기반으로 큐레이션한 목록에서 체크만 합니다. 이미 정한 곳은 구글 지도 URL로 직접 추가할 수 있습니다.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85800" y="5779008"/>
            <a:ext cx="10820095" cy="658368"/>
          </a:xfrm>
          <a:prstGeom prst="roundRect">
            <a:avLst>
              <a:gd name="adj" fmla="val 13889"/>
            </a:avLst>
          </a:prstGeom>
          <a:solidFill>
            <a:srgbClr val="F6F7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96696" y="5779008"/>
            <a:ext cx="1019830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공통 패턴   </a:t>
            </a:r>
            <a:pPr indent="0" marL="0">
              <a:buNone/>
            </a:pPr>
            <a:r>
              <a:rPr lang="en-US" sz="1350" dirty="0">
                <a:solidFill>
                  <a:srgbClr val="1A1B2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후보는 3개 내외로 좁혀 제시한다. 너무 많으면 고를 수 없고 하나만 주면 신뢰할 수 없다.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차별점 01 · 원하는 걸 찾아가는 여정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1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기다리는 시간을 신뢰가 쌓이는 시간으로</a:t>
            </a:r>
            <a:endParaRPr lang="en-US" sz="3100" dirty="0"/>
          </a:p>
        </p:txBody>
      </p:sp>
      <p:pic>
        <p:nvPicPr>
          <p:cNvPr id="4" name="Image 0" descr="assets/4.2.flight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5870448" cy="3662620"/>
          </a:xfrm>
          <a:prstGeom prst="rect">
            <a:avLst/>
          </a:prstGeom>
          <a:effectLst>
            <a:outerShdw sx="100000" sy="100000" kx="0" ky="0" algn="bl" rotWithShape="0" blurRad="254000" dist="63500" dir="5400000">
              <a:srgbClr val="0A0C18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784848" y="1901952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6" name="Text 3"/>
          <p:cNvSpPr/>
          <p:nvPr/>
        </p:nvSpPr>
        <p:spPr>
          <a:xfrm>
            <a:off x="6784848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260336" y="1874520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추론 과정을 문장으로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260336" y="2148840"/>
            <a:ext cx="4242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“가격과 이동 시간, 일정에 주는 영향을 비교해 가장 균형 잡힌 결과를 고릅니다.” 스피너 대신 지금 무엇을 하는지 보여줍니다.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784848" y="3273552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0" name="Text 7"/>
          <p:cNvSpPr/>
          <p:nvPr/>
        </p:nvSpPr>
        <p:spPr>
          <a:xfrm>
            <a:off x="6784848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260336" y="3246120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도구 호출을 카드로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260336" y="3520440"/>
            <a:ext cx="4242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search_candidates · 후보 데이터베이스 조회 · 128개 결과 확인. 어떤 근거로 좁혔는지 사용자가 눈으로 따라갑니다.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784848" y="4645152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4" name="Text 11"/>
          <p:cNvSpPr/>
          <p:nvPr/>
        </p:nvSpPr>
        <p:spPr>
          <a:xfrm>
            <a:off x="6784848" y="4645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260336" y="4617720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결과의 모양을 미리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260336" y="4892040"/>
            <a:ext cx="4242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스켈레톤으로 곧 나올 결과의 구조를 예고하고 언제든 중단할 수 있습니다.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784848" y="5596128"/>
            <a:ext cx="4718304" cy="713232"/>
          </a:xfrm>
          <a:prstGeom prst="roundRect">
            <a:avLst>
              <a:gd name="adj" fmla="val 12821"/>
            </a:avLst>
          </a:prstGeom>
          <a:solidFill>
            <a:srgbClr val="EDEFF9"/>
          </a:solidFill>
          <a:ln w="12700">
            <a:solidFill>
              <a:srgbClr val="CBD0E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22592" y="559612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스피너를 보면 “멈췄나?” 싶고,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문장을 읽으면 “이해했구나” 싶습니다.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A8AFE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차별점 02 · 검증 에이전트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AI가 반복적으로 틀리는 지점을</a:t>
            </a:r>
            <a:endParaRPr lang="en-US" sz="3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규칙으로 고정했습니다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1396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“더 좋은 모델”을 기다리는 대신 앞에서 정리한 실패 유형을 10개 규칙으로 정의하고 일정마다 검사합니다.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92608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1D1F30"/>
          </a:solidFill>
          <a:ln w="12700">
            <a:solidFill>
              <a:srgbClr val="2C2F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3182112"/>
            <a:ext cx="804672" cy="292608"/>
          </a:xfrm>
          <a:prstGeom prst="roundRect">
            <a:avLst>
              <a:gd name="adj" fmla="val 46875"/>
            </a:avLst>
          </a:prstGeom>
          <a:solidFill>
            <a:srgbClr val="BC3B2B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318211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충돌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41832" y="3621024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실행이 물리적으로 불가능하다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4224528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월요일 휴관 장소 방문 · 이동 시간이 음수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92608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1D1F30"/>
          </a:solidFill>
          <a:ln w="12700">
            <a:solidFill>
              <a:srgbClr val="2C2F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6008" y="3182112"/>
            <a:ext cx="804672" cy="292608"/>
          </a:xfrm>
          <a:prstGeom prst="roundRect">
            <a:avLst>
              <a:gd name="adj" fmla="val 46875"/>
            </a:avLst>
          </a:prstGeom>
          <a:solidFill>
            <a:srgbClr val="9C6B12"/>
          </a:solidFill>
          <a:ln/>
        </p:spPr>
      </p:sp>
      <p:sp>
        <p:nvSpPr>
          <p:cNvPr id="12" name="Text 10"/>
          <p:cNvSpPr/>
          <p:nvPr/>
        </p:nvSpPr>
        <p:spPr>
          <a:xfrm>
            <a:off x="4636008" y="318211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36008" y="3621024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가능하지만 경험이 나빠진다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36008" y="4224528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일정 과다 · 예산 초과 · 도보 4km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74152" y="292608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1D1F30"/>
          </a:solidFill>
          <a:ln w="12700">
            <a:solidFill>
              <a:srgbClr val="2C2F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3182112"/>
            <a:ext cx="1371600" cy="292608"/>
          </a:xfrm>
          <a:prstGeom prst="roundRect">
            <a:avLst>
              <a:gd name="adj" fmla="val 46875"/>
            </a:avLst>
          </a:prstGeom>
          <a:solidFill>
            <a:srgbClr val="2E7D53"/>
          </a:solidFill>
          <a:ln/>
        </p:spPr>
      </p:sp>
      <p:sp>
        <p:nvSpPr>
          <p:cNvPr id="17" name="Text 15"/>
          <p:cNvSpPr/>
          <p:nvPr/>
        </p:nvSpPr>
        <p:spPr>
          <a:xfrm>
            <a:off x="8330184" y="31821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정상 / 건너뜀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30184" y="3621024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없음, 또는 판정할 데이터가 없다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30184" y="4224528"/>
            <a:ext cx="2916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미입력 → “입력하지 않아 건너뛰었어요”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5285232"/>
            <a:ext cx="10820095" cy="822960"/>
          </a:xfrm>
          <a:prstGeom prst="roundRect">
            <a:avLst>
              <a:gd name="adj" fmla="val 11111"/>
            </a:avLst>
          </a:prstGeom>
          <a:solidFill>
            <a:srgbClr val="1D1F30"/>
          </a:solidFill>
          <a:ln w="12700">
            <a:solidFill>
              <a:srgbClr val="2C2F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5285232"/>
            <a:ext cx="101983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FE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판정 원칙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애매하면 '주의'로 내린다. '충돌'을 남발하면 사용자가 검증 자체를 신뢰하지 않기 때문이다.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차별점 02 · 검증 에이전트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1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10개 규칙마다 근거와 자동 수정이 따라옵니다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17550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190195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E8EAFB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" y="19019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영업시간 · 휴관일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039112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요일별 영업시간과 방문 시각을 대조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85800" y="2404872"/>
            <a:ext cx="517550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258775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E8EAFB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25877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246888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이동 시간 실현성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2724912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체류 + 이동 대비 다음 일정까지의 여유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85800" y="3090672"/>
            <a:ext cx="517550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" y="327355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E8EAFB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" y="32735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315468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항공 도착 · 출발 여유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410712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입국 60분 · 체크인 120분 · 공항 이동 반영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85800" y="3776472"/>
            <a:ext cx="517550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" y="395935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E8EAFB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" y="3959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17320" y="384048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숙소 체크인 · 체크아웃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4096512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체크인 전 도착, 체크아웃 후 짐 보관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85800" y="4462272"/>
            <a:ext cx="517550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" y="464515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E8EAFB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" y="46451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17320" y="452628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하루 일정량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782312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페이스 대비 과다 · 부족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6327648" y="1719072"/>
            <a:ext cx="517550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73952" y="190195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E8EAFB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19019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59168" y="178308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59168" y="2039112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항공 · 숙소 · 입장료 · 식사 · 교통 합산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6327648" y="2404872"/>
            <a:ext cx="517550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73952" y="258775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E8EAFB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25877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59168" y="246888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접근성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59168" y="2724912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휠체어 · 유아차 · 계단 · 하루 도보 거리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6327648" y="3090672"/>
            <a:ext cx="517550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73952" y="327355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E8EAFB"/>
          </a:solidFill>
          <a:ln/>
        </p:spPr>
      </p:sp>
      <p:sp>
        <p:nvSpPr>
          <p:cNvPr id="41" name="Text 39"/>
          <p:cNvSpPr/>
          <p:nvPr/>
        </p:nvSpPr>
        <p:spPr>
          <a:xfrm>
            <a:off x="6473952" y="32735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59168" y="315468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관심사 반영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59168" y="3410712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고른 관심사가 골고루 들어갔는지, 편중 여부</a:t>
            </a:r>
            <a:endParaRPr lang="en-US" sz="1180" dirty="0"/>
          </a:p>
        </p:txBody>
      </p:sp>
      <p:sp>
        <p:nvSpPr>
          <p:cNvPr id="44" name="Shape 42"/>
          <p:cNvSpPr/>
          <p:nvPr/>
        </p:nvSpPr>
        <p:spPr>
          <a:xfrm>
            <a:off x="6327648" y="3776472"/>
            <a:ext cx="517550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73952" y="395935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E8EAFB"/>
          </a:solidFill>
          <a:ln/>
        </p:spPr>
      </p:sp>
      <p:sp>
        <p:nvSpPr>
          <p:cNvPr id="46" name="Text 44"/>
          <p:cNvSpPr/>
          <p:nvPr/>
        </p:nvSpPr>
        <p:spPr>
          <a:xfrm>
            <a:off x="6473952" y="3959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059168" y="384048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사전 예약 필요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059168" y="4096512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필수 장소를 준비물 탭으로 자동 등록</a:t>
            </a:r>
            <a:endParaRPr lang="en-US" sz="1180" dirty="0"/>
          </a:p>
        </p:txBody>
      </p:sp>
      <p:sp>
        <p:nvSpPr>
          <p:cNvPr id="49" name="Shape 47"/>
          <p:cNvSpPr/>
          <p:nvPr/>
        </p:nvSpPr>
        <p:spPr>
          <a:xfrm>
            <a:off x="6327648" y="4462272"/>
            <a:ext cx="517550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73952" y="4645152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E8EAFB"/>
          </a:solidFill>
          <a:ln/>
        </p:spPr>
      </p:sp>
      <p:sp>
        <p:nvSpPr>
          <p:cNvPr id="51" name="Text 49"/>
          <p:cNvSpPr/>
          <p:nvPr/>
        </p:nvSpPr>
        <p:spPr>
          <a:xfrm>
            <a:off x="6473952" y="46451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V10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059168" y="4526280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시즌 · 날씨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059168" y="4782312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우기 · 혹서 · 현지 공휴일 → 실내 대안 제안</a:t>
            </a:r>
            <a:endParaRPr lang="en-US" sz="1180" dirty="0"/>
          </a:p>
        </p:txBody>
      </p:sp>
      <p:sp>
        <p:nvSpPr>
          <p:cNvPr id="54" name="Shape 52"/>
          <p:cNvSpPr/>
          <p:nvPr/>
        </p:nvSpPr>
        <p:spPr>
          <a:xfrm>
            <a:off x="685800" y="5349240"/>
            <a:ext cx="10820095" cy="960120"/>
          </a:xfrm>
          <a:prstGeom prst="roundRect">
            <a:avLst>
              <a:gd name="adj" fmla="val 9524"/>
            </a:avLst>
          </a:prstGeom>
          <a:solidFill>
            <a:srgbClr val="F6F7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6696" y="5495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근거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996696" y="57698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8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무엇과 대조했는지 문장으로 남긴다</a:t>
            </a:r>
            <a:endParaRPr lang="en-US" sz="1180" dirty="0"/>
          </a:p>
        </p:txBody>
      </p:sp>
      <p:sp>
        <p:nvSpPr>
          <p:cNvPr id="57" name="Text 55"/>
          <p:cNvSpPr/>
          <p:nvPr/>
        </p:nvSpPr>
        <p:spPr>
          <a:xfrm>
            <a:off x="4517136" y="5495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자동 수정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517136" y="57698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8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규칙별로 일정을 어떻게 바꿀지 제안한다</a:t>
            </a:r>
            <a:endParaRPr lang="en-US" sz="1180" dirty="0"/>
          </a:p>
        </p:txBody>
      </p:sp>
      <p:sp>
        <p:nvSpPr>
          <p:cNvPr id="59" name="Text 57"/>
          <p:cNvSpPr/>
          <p:nvPr/>
        </p:nvSpPr>
        <p:spPr>
          <a:xfrm>
            <a:off x="8037576" y="5495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재검증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8037576" y="57698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8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후 영향받는 규칙만 다시 실행한다</a:t>
            </a:r>
            <a:endParaRPr lang="en-US" sz="11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차별점 02 · 검증 에이전트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1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검사 → 근거 → 자동 수정 → 재검증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1719072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검사 중   </a:t>
            </a:r>
            <a:pPr indent="0" marL="0">
              <a:buNone/>
            </a:pPr>
            <a:r>
              <a:rPr lang="en-US" sz="120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 규칙을 순차 실행하며 추론 과정을 함께 보여줍니다</a:t>
            </a:r>
            <a:endParaRPr lang="en-US" sz="1200" dirty="0"/>
          </a:p>
        </p:txBody>
      </p:sp>
      <p:pic>
        <p:nvPicPr>
          <p:cNvPr id="5" name="Image 0" descr="assets/8.2.verification_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447" y="2048256"/>
            <a:ext cx="4836481" cy="3017520"/>
          </a:xfrm>
          <a:prstGeom prst="rect">
            <a:avLst/>
          </a:prstGeom>
          <a:effectLst>
            <a:outerShdw sx="100000" sy="100000" kx="0" ky="0" algn="bl" rotWithShape="0" blurRad="254000" dist="63500" dir="5400000">
              <a:srgbClr val="0A0C18">
                <a:alpha val="16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6455664" y="1719072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검사 완료   </a:t>
            </a:r>
            <a:pPr indent="0" marL="0">
              <a:buNone/>
            </a:pPr>
            <a:r>
              <a:rPr lang="en-US" sz="120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6 · 주의 3 · 충돌 1. 항목마다 근거와 수정안이 붙습니다</a:t>
            </a:r>
            <a:endParaRPr lang="en-US" sz="1200" dirty="0"/>
          </a:p>
        </p:txBody>
      </p:sp>
      <p:pic>
        <p:nvPicPr>
          <p:cNvPr id="7" name="Image 1" descr="assets/8.3.verification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591" y="2048256"/>
            <a:ext cx="4836481" cy="3017520"/>
          </a:xfrm>
          <a:prstGeom prst="rect">
            <a:avLst/>
          </a:prstGeom>
          <a:effectLst>
            <a:outerShdw sx="100000" sy="100000" kx="0" ky="0" algn="bl" rotWithShape="0" blurRad="254000" dist="63500" dir="5400000">
              <a:srgbClr val="0A0C18">
                <a:alpha val="16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685800" y="5285232"/>
            <a:ext cx="3429000" cy="1097280"/>
          </a:xfrm>
          <a:prstGeom prst="roundRect">
            <a:avLst>
              <a:gd name="adj" fmla="val 8333"/>
            </a:avLst>
          </a:prstGeom>
          <a:solidFill>
            <a:srgbClr val="F6F7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23544" y="5486400"/>
            <a:ext cx="292608" cy="29260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0" name="Text 6"/>
          <p:cNvSpPr/>
          <p:nvPr/>
        </p:nvSpPr>
        <p:spPr>
          <a:xfrm>
            <a:off x="923544" y="5486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307592" y="546811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근거를 함께</a:t>
            </a:r>
            <a:endParaRPr lang="en-US" sz="1280" dirty="0"/>
          </a:p>
        </p:txBody>
      </p:sp>
      <p:sp>
        <p:nvSpPr>
          <p:cNvPr id="12" name="Text 8"/>
          <p:cNvSpPr/>
          <p:nvPr/>
        </p:nvSpPr>
        <p:spPr>
          <a:xfrm>
            <a:off x="923544" y="5797296"/>
            <a:ext cx="2953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“도쿄 국립박물관은 매주 월요일 휴관입니다.” 판정의 이유를 항상 붙인다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79976" y="5285232"/>
            <a:ext cx="3429000" cy="1097280"/>
          </a:xfrm>
          <a:prstGeom prst="roundRect">
            <a:avLst>
              <a:gd name="adj" fmla="val 8333"/>
            </a:avLst>
          </a:prstGeom>
          <a:solidFill>
            <a:srgbClr val="F6F7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17720" y="5486400"/>
            <a:ext cx="292608" cy="29260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5" name="Text 11"/>
          <p:cNvSpPr/>
          <p:nvPr/>
        </p:nvSpPr>
        <p:spPr>
          <a:xfrm>
            <a:off x="4617720" y="5486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001768" y="546811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수정안을 제시</a:t>
            </a:r>
            <a:endParaRPr lang="en-US" sz="1280" dirty="0"/>
          </a:p>
        </p:txBody>
      </p:sp>
      <p:sp>
        <p:nvSpPr>
          <p:cNvPr id="17" name="Text 13"/>
          <p:cNvSpPr/>
          <p:nvPr/>
        </p:nvSpPr>
        <p:spPr>
          <a:xfrm>
            <a:off x="4617720" y="5797296"/>
            <a:ext cx="2953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“Day 3 오전으로 옮기면 같은 우에노 권역에서 이동할 수 있어요. +4분”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74152" y="5285232"/>
            <a:ext cx="3429000" cy="1097280"/>
          </a:xfrm>
          <a:prstGeom prst="roundRect">
            <a:avLst>
              <a:gd name="adj" fmla="val 8333"/>
            </a:avLst>
          </a:prstGeom>
          <a:solidFill>
            <a:srgbClr val="F6F7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11896" y="5486400"/>
            <a:ext cx="292608" cy="29260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0" name="Text 16"/>
          <p:cNvSpPr/>
          <p:nvPr/>
        </p:nvSpPr>
        <p:spPr>
          <a:xfrm>
            <a:off x="8311896" y="5486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695944" y="546811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선택은 사용자</a:t>
            </a:r>
            <a:endParaRPr lang="en-US" sz="1280" dirty="0"/>
          </a:p>
        </p:txBody>
      </p:sp>
      <p:sp>
        <p:nvSpPr>
          <p:cNvPr id="22" name="Text 18"/>
          <p:cNvSpPr/>
          <p:nvPr/>
        </p:nvSpPr>
        <p:spPr>
          <a:xfrm>
            <a:off x="8311896" y="5797296"/>
            <a:ext cx="2953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[이 수정 적용] · [자동 수정 모두 적용] · [무시하기] 중에서 고른다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차별점 03 · 자연어 대신 직접 편집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1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고치고 싶은 곳을 그 자리에서 고칩니다</a:t>
            </a:r>
            <a:endParaRPr lang="en-US" sz="3100" dirty="0"/>
          </a:p>
        </p:txBody>
      </p:sp>
      <p:pic>
        <p:nvPicPr>
          <p:cNvPr id="4" name="Image 0" descr="assets/7.3.itinerary_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5870448" cy="3662620"/>
          </a:xfrm>
          <a:prstGeom prst="rect">
            <a:avLst/>
          </a:prstGeom>
          <a:effectLst>
            <a:outerShdw sx="100000" sy="100000" kx="0" ky="0" algn="bl" rotWithShape="0" blurRad="254000" dist="63500" dir="5400000">
              <a:srgbClr val="0A0C18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784848" y="1837944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6" name="Text 3"/>
          <p:cNvSpPr/>
          <p:nvPr/>
        </p:nvSpPr>
        <p:spPr>
          <a:xfrm>
            <a:off x="6784848" y="1837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260336" y="181051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일정과 지도를 한 화면에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60336" y="2084832"/>
            <a:ext cx="4242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타임라인의 항목에 마우스를 올리면 오른쪽 지도의 마커가 함께 반응합니다. 동선이 자연스러운지 눈으로 바로 확인합니다.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84848" y="2916936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0" name="Text 7"/>
          <p:cNvSpPr/>
          <p:nvPr/>
        </p:nvSpPr>
        <p:spPr>
          <a:xfrm>
            <a:off x="6784848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260336" y="2889504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드래그&amp;드롭으로 재배치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260336" y="3163824"/>
            <a:ext cx="4242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날짜와 순서를 끌어서 바꾸면 이동 시간이 자동으로 다시 계산됩니다. 키보드로도 드래그할 수 있습니다.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84848" y="3995928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4" name="Text 11"/>
          <p:cNvSpPr/>
          <p:nvPr/>
        </p:nvSpPr>
        <p:spPr>
          <a:xfrm>
            <a:off x="678484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260336" y="396849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재생성 없는 부분 수정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60336" y="4242816"/>
            <a:ext cx="4242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방문 시각과 체류 시간을 직접 조정합니다. 전체가 다시 만들어지지 않고 건드린 블록만 바뀝니다.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84848" y="5074920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8" name="Text 15"/>
          <p:cNvSpPr/>
          <p:nvPr/>
        </p:nvSpPr>
        <p:spPr>
          <a:xfrm>
            <a:off x="6784848" y="5074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260336" y="5047488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경로 최적화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260336" y="5321808"/>
            <a:ext cx="4242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누르면 동선을 재정렬하고 무엇이 어떻게 바뀌는지 미리 보여준 뒤 적용합니다.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784848" y="6144768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454F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모든 변경은 자동 저장되고 파괴적인 동작에는 되돌리기가 붙습니다.</a:t>
            </a:r>
            <a:endParaRPr lang="en-US" sz="11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차별점 04 · 꺼낼 수 있는 결과물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1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완성한 일정을 밖으로 꺼냅니다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검증을 통과한 일정은 대화 기록이 아니라 하나의 문서가 됩니다. 링크로 보내고 종이로 뽑아 현지에서 들고 다닙니다.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231136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06424" y="2231136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공유 링크</a:t>
            </a:r>
            <a:endParaRPr lang="en-US" sz="1450" dirty="0"/>
          </a:p>
        </p:txBody>
      </p:sp>
      <p:pic>
        <p:nvPicPr>
          <p:cNvPr id="8" name="Image 0" descr="assets/9.itinerary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670048"/>
            <a:ext cx="3429000" cy="2139381"/>
          </a:xfrm>
          <a:prstGeom prst="rect">
            <a:avLst/>
          </a:prstGeom>
          <a:effectLst>
            <a:outerShdw sx="100000" sy="100000" kx="0" ky="0" algn="bl" rotWithShape="0" blurRad="254000" dist="63500" dir="5400000">
              <a:srgbClr val="0A0C18">
                <a:alpha val="16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685800" y="5028885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 전용 스냅샷 링크를 복사해 동행에게 보냅니다. 일정과 지도, 이동 시간이 함께 전달됩니다.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2231136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1" name="Text 8"/>
          <p:cNvSpPr/>
          <p:nvPr/>
        </p:nvSpPr>
        <p:spPr>
          <a:xfrm>
            <a:off x="4379976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00600" y="2231136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인쇄 · PDF</a:t>
            </a:r>
            <a:endParaRPr lang="en-US" sz="1450" dirty="0"/>
          </a:p>
        </p:txBody>
      </p:sp>
      <p:pic>
        <p:nvPicPr>
          <p:cNvPr id="13" name="Image 1" descr="assets/10.itinerary_pr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007" y="2670048"/>
            <a:ext cx="3246939" cy="2139381"/>
          </a:xfrm>
          <a:prstGeom prst="rect">
            <a:avLst/>
          </a:prstGeom>
          <a:effectLst>
            <a:outerShdw sx="100000" sy="100000" kx="0" ky="0" algn="bl" rotWithShape="0" blurRad="254000" dist="63500" dir="5400000">
              <a:srgbClr val="0A0C18">
                <a:alpha val="16000"/>
              </a:srgbClr>
            </a:outerShdw>
          </a:effectLst>
        </p:spPr>
      </p:pic>
      <p:sp>
        <p:nvSpPr>
          <p:cNvPr id="14" name="Text 10"/>
          <p:cNvSpPr/>
          <p:nvPr/>
        </p:nvSpPr>
        <p:spPr>
          <a:xfrm>
            <a:off x="4379976" y="5028885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전용 레이아웃으로 PDF 저장까지 지원합니다. 데이터가 안 터지는 곳에서도 쓸 수 있습니다.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74152" y="2231136"/>
            <a:ext cx="310896" cy="310896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6" name="Text 12"/>
          <p:cNvSpPr/>
          <p:nvPr/>
        </p:nvSpPr>
        <p:spPr>
          <a:xfrm>
            <a:off x="8074152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494776" y="2231136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여정 시뮬레이션</a:t>
            </a:r>
            <a:endParaRPr lang="en-US" sz="1450" dirty="0"/>
          </a:p>
        </p:txBody>
      </p:sp>
      <p:pic>
        <p:nvPicPr>
          <p:cNvPr id="18" name="Image 2" descr="assets/11.itinerary_simul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933" y="2670048"/>
            <a:ext cx="3291438" cy="2139381"/>
          </a:xfrm>
          <a:prstGeom prst="rect">
            <a:avLst/>
          </a:prstGeom>
          <a:effectLst>
            <a:outerShdw sx="100000" sy="100000" kx="0" ky="0" algn="bl" rotWithShape="0" blurRad="254000" dist="63500" dir="5400000">
              <a:srgbClr val="0A0C18">
                <a:alpha val="16000"/>
              </a:srgbClr>
            </a:outerShdw>
          </a:effectLst>
        </p:spPr>
      </p:pic>
      <p:sp>
        <p:nvSpPr>
          <p:cNvPr id="19" name="Text 14"/>
          <p:cNvSpPr/>
          <p:nvPr/>
        </p:nvSpPr>
        <p:spPr>
          <a:xfrm>
            <a:off x="8074152" y="5028885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장소를 하나씩 넘기며 다음 이동 수단과 소요 시간을 확인합니다. 출발 전 미리 걸어보는 화면입니다.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85800" y="5815584"/>
            <a:ext cx="10820095" cy="658368"/>
          </a:xfrm>
          <a:prstGeom prst="roundRect">
            <a:avLst>
              <a:gd name="adj" fmla="val 13889"/>
            </a:avLst>
          </a:prstGeom>
          <a:solidFill>
            <a:srgbClr val="12131F"/>
          </a:solidFill>
          <a:ln/>
        </p:spPr>
      </p:sp>
      <p:sp>
        <p:nvSpPr>
          <p:cNvPr id="21" name="Text 16"/>
          <p:cNvSpPr/>
          <p:nvPr/>
        </p:nvSpPr>
        <p:spPr>
          <a:xfrm>
            <a:off x="996696" y="5815584"/>
            <a:ext cx="1019830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FE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완료 배지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공유·인쇄 뷰에는 검증을 통과했다는 표시가 함께 나갑니다. 받는 사람도 신뢰할 근거가 생깁니다.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5E6AD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HOW WE BUILT 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1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에이전트를 교체할 수 있는 구조로 만들었습니다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UI와 에이전트 사이에 계약을 두어 목 스트리밍과 실제 백엔드를 같은 화면에서 교체할 수 있게 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212848"/>
            <a:ext cx="5943600" cy="676656"/>
          </a:xfrm>
          <a:prstGeom prst="roundRect">
            <a:avLst>
              <a:gd name="adj" fmla="val 10811"/>
            </a:avLst>
          </a:prstGeom>
          <a:solidFill>
            <a:srgbClr val="F6F7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2212848"/>
            <a:ext cx="1783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 레이어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2734056" y="2212848"/>
            <a:ext cx="3675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8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App Router · 7단계 라우팅 · 서버 컴포넌트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3474720" y="2894076"/>
            <a:ext cx="365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0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▾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3035808"/>
            <a:ext cx="5943600" cy="676656"/>
          </a:xfrm>
          <a:prstGeom prst="roundRect">
            <a:avLst>
              <a:gd name="adj" fmla="val 10811"/>
            </a:avLst>
          </a:prstGeom>
          <a:solidFill>
            <a:srgbClr val="F6F7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3035808"/>
            <a:ext cx="1783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상태 레이어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2734056" y="3035808"/>
            <a:ext cx="3675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8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TripDraft 단일 객체 · localStorage 지속화 · 새로고침 복원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3474720" y="3717036"/>
            <a:ext cx="365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0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▾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5943600" cy="676656"/>
          </a:xfrm>
          <a:prstGeom prst="roundRect">
            <a:avLst>
              <a:gd name="adj" fmla="val 10811"/>
            </a:avLst>
          </a:prstGeom>
          <a:solidFill>
            <a:srgbClr val="F6F7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3858768"/>
            <a:ext cx="1783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에이전트 계약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2734056" y="3858768"/>
            <a:ext cx="3675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8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AgentEvent · AgentTransport 인터페이스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3474720" y="4539996"/>
            <a:ext cx="365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0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▾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4681728"/>
            <a:ext cx="5943600" cy="676656"/>
          </a:xfrm>
          <a:prstGeom prst="roundRect">
            <a:avLst>
              <a:gd name="adj" fmla="val 10811"/>
            </a:avLst>
          </a:prstGeom>
          <a:solidFill>
            <a:srgbClr val="E8EAFB"/>
          </a:solidFill>
          <a:ln w="12700">
            <a:solidFill>
              <a:srgbClr val="CBD0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4681728"/>
            <a:ext cx="1783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전송 구현체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2734056" y="4681728"/>
            <a:ext cx="3675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8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MockTransport(시나리오 스트리밍)</a:t>
            </a:r>
            <a:endParaRPr lang="en-US" sz="118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8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⇄ SseTransport(실제 백엔드)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3474720" y="5362956"/>
            <a:ext cx="365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0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" y="5504688"/>
            <a:ext cx="5943600" cy="676656"/>
          </a:xfrm>
          <a:prstGeom prst="roundRect">
            <a:avLst>
              <a:gd name="adj" fmla="val 10811"/>
            </a:avLst>
          </a:prstGeom>
          <a:solidFill>
            <a:srgbClr val="E8EAFB"/>
          </a:solidFill>
          <a:ln w="12700">
            <a:solidFill>
              <a:srgbClr val="CBD0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5504688"/>
            <a:ext cx="1783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454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엔진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2734056" y="5504688"/>
            <a:ext cx="3675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8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rules.ts의 V1~V10 순수 함수 · 규칙별 단위 테스트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6903720" y="2212848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B8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2542032"/>
            <a:ext cx="459943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23176" y="261518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프레임워크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23176" y="28712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15 · TypeScript · Tailwind · shadcn/ui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03720" y="3310128"/>
            <a:ext cx="459943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23176" y="338328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상태 · 검증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23176" y="36393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TanStack Query · Zod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903720" y="4078224"/>
            <a:ext cx="459943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23176" y="415137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지도 · 인터랙션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23176" y="440740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MapLibre GL · dnd-kit · Framer Motion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903720" y="4846320"/>
            <a:ext cx="459943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23176" y="491947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B2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품질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23176" y="51755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8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Vitest · Playwright · axe-core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03720" y="5650992"/>
            <a:ext cx="4599432" cy="658368"/>
          </a:xfrm>
          <a:prstGeom prst="roundRect">
            <a:avLst>
              <a:gd name="adj" fmla="val 13889"/>
            </a:avLst>
          </a:prstGeom>
          <a:solidFill>
            <a:srgbClr val="12131F"/>
          </a:solidFill>
          <a:ln/>
        </p:spPr>
      </p:sp>
      <p:sp>
        <p:nvSpPr>
          <p:cNvPr id="38" name="Text 36"/>
          <p:cNvSpPr/>
          <p:nvPr/>
        </p:nvSpPr>
        <p:spPr>
          <a:xfrm>
            <a:off x="7141464" y="5650992"/>
            <a:ext cx="4123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MockTransport → SseTransport 교체만으로</a:t>
            </a:r>
            <a:endParaRPr lang="en-US" sz="11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실제 에이전트에 연결됩니다.</a:t>
            </a:r>
            <a:endParaRPr lang="en-US" sz="11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132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A8AFE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WRAP 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원하는 걸 함께 찾고,</a:t>
            </a:r>
            <a:endParaRPr lang="en-US" sz="34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만든 것을 책임집니다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6517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A8AF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부족했던 건 지식이 아니라 사용자를 데려가는 여정과</a:t>
            </a:r>
            <a:endParaRPr lang="en-US" sz="14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A8AF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스스로를 검사하는 절차였습니다.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097280"/>
            <a:ext cx="5102352" cy="1060704"/>
          </a:xfrm>
          <a:prstGeom prst="roundRect">
            <a:avLst>
              <a:gd name="adj" fmla="val 8621"/>
            </a:avLst>
          </a:prstGeom>
          <a:solidFill>
            <a:srgbClr val="1D1F30"/>
          </a:solidFill>
          <a:ln w="12700">
            <a:solidFill>
              <a:srgbClr val="2C2F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56832" y="1463040"/>
            <a:ext cx="329184" cy="329184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7" name="Text 5"/>
          <p:cNvSpPr/>
          <p:nvPr/>
        </p:nvSpPr>
        <p:spPr>
          <a:xfrm>
            <a:off x="6656832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14032" y="1261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14032" y="1554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선택형 7단계로 취향을 발굴한다. 확정 입력은 도시와 날짜 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331720"/>
            <a:ext cx="5102352" cy="1060704"/>
          </a:xfrm>
          <a:prstGeom prst="roundRect">
            <a:avLst>
              <a:gd name="adj" fmla="val 8621"/>
            </a:avLst>
          </a:prstGeom>
          <a:solidFill>
            <a:srgbClr val="1D1F30"/>
          </a:solidFill>
          <a:ln w="12700">
            <a:solidFill>
              <a:srgbClr val="2C2F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56832" y="2697480"/>
            <a:ext cx="329184" cy="329184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2" name="Text 10"/>
          <p:cNvSpPr/>
          <p:nvPr/>
        </p:nvSpPr>
        <p:spPr>
          <a:xfrm>
            <a:off x="6656832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14032" y="24963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14032" y="2788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 규칙 · 근거 제시 · 자동 수정 · 영향 규칙만 재검증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566160"/>
            <a:ext cx="5102352" cy="1060704"/>
          </a:xfrm>
          <a:prstGeom prst="roundRect">
            <a:avLst>
              <a:gd name="adj" fmla="val 8621"/>
            </a:avLst>
          </a:prstGeom>
          <a:solidFill>
            <a:srgbClr val="1D1F30"/>
          </a:solidFill>
          <a:ln w="12700">
            <a:solidFill>
              <a:srgbClr val="2C2F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3931920"/>
            <a:ext cx="329184" cy="329184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7" name="Text 15"/>
          <p:cNvSpPr/>
          <p:nvPr/>
        </p:nvSpPr>
        <p:spPr>
          <a:xfrm>
            <a:off x="6656832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14032" y="3730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편집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14032" y="4023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드래그&amp;드롭과 지도 동기화로 그 자리에서 고친다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4800600"/>
            <a:ext cx="5102352" cy="1060704"/>
          </a:xfrm>
          <a:prstGeom prst="roundRect">
            <a:avLst>
              <a:gd name="adj" fmla="val 8621"/>
            </a:avLst>
          </a:prstGeom>
          <a:solidFill>
            <a:srgbClr val="1D1F30"/>
          </a:solidFill>
          <a:ln w="12700">
            <a:solidFill>
              <a:srgbClr val="2C2F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56832" y="5166360"/>
            <a:ext cx="329184" cy="329184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2" name="Text 20"/>
          <p:cNvSpPr/>
          <p:nvPr/>
        </p:nvSpPr>
        <p:spPr>
          <a:xfrm>
            <a:off x="6656832" y="5166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14032" y="4965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산출물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14032" y="5257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링크 · 인쇄/PDF · 여정 시뮬레이션으로 꺼낸다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371246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B8FA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단계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4096512"/>
            <a:ext cx="146304" cy="146304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7" name="Text 25"/>
          <p:cNvSpPr/>
          <p:nvPr/>
        </p:nvSpPr>
        <p:spPr>
          <a:xfrm>
            <a:off x="978408" y="40416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에이전트·항공/숙소 API 연결 (SseTransport 전환)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685800" y="4480560"/>
            <a:ext cx="146304" cy="146304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9" name="Text 27"/>
          <p:cNvSpPr/>
          <p:nvPr/>
        </p:nvSpPr>
        <p:spPr>
          <a:xfrm>
            <a:off x="978408" y="44256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규칙 확장 (현지 교통 파업 · 실시간 휴관 정보)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685800" y="4864608"/>
            <a:ext cx="146304" cy="146304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31" name="Text 29"/>
          <p:cNvSpPr/>
          <p:nvPr/>
        </p:nvSpPr>
        <p:spPr>
          <a:xfrm>
            <a:off x="978408" y="48097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 전용 공유에서 동행과의 공동 편집으로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감사합니다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85800" y="6035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F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JustGO · 강원대 × 고려대 Summer Agentic AI 심화 몰입 캠프 1팀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JustGO — AI 여행 플래너</dc:title>
  <dc:subject>PptxGenJS Presentation</dc:subject>
  <dc:creator>강원대 × 고려대 Summer Agentic AI 심화 몰입 캠프 1팀</dc:creator>
  <cp:lastModifiedBy>강원대 × 고려대 Summer Agentic AI 심화 몰입 캠프 1팀</cp:lastModifiedBy>
  <cp:revision>1</cp:revision>
  <dcterms:created xsi:type="dcterms:W3CDTF">2026-08-14T02:57:21Z</dcterms:created>
  <dcterms:modified xsi:type="dcterms:W3CDTF">2026-08-14T02:57:21Z</dcterms:modified>
</cp:coreProperties>
</file>